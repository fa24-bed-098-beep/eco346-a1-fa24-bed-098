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Men</c:v>
                </c:pt>
              </c:strCache>
            </c:strRef>
          </c:tx>
          <c:spPr>
            <a:solidFill>
              <a:srgbClr val="1F5A99"/>
            </a:solidFill>
            <a:ln w="38100" cap="flat">
              <a:solidFill>
                <a:srgbClr val="1F5A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5A99"/>
              </a:solidFill>
              <a:ln w="9525" cap="flat">
                <a:solidFill>
                  <a:srgbClr val="1F5A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10-14</c:v>
                  </c:pt>
                  <c:pt idx="1">
                    <c:v>15-19</c:v>
                  </c:pt>
                  <c:pt idx="2">
                    <c:v>20-24</c:v>
                  </c:pt>
                  <c:pt idx="3">
                    <c:v>25-29</c:v>
                  </c:pt>
                  <c:pt idx="4">
                    <c:v>30-34</c:v>
                  </c:pt>
                  <c:pt idx="5">
                    <c:v>35-39</c:v>
                  </c:pt>
                  <c:pt idx="6">
                    <c:v>40-44</c:v>
                  </c:pt>
                  <c:pt idx="7">
                    <c:v>45-49</c:v>
                  </c:pt>
                  <c:pt idx="8">
                    <c:v>50-54</c:v>
                  </c:pt>
                  <c:pt idx="9">
                    <c:v>55-59</c:v>
                  </c:pt>
                  <c:pt idx="10">
                    <c:v>60-64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57.6</c:v>
                </c:pt>
                <c:pt idx="1">
                  <c:v>59.5</c:v>
                </c:pt>
                <c:pt idx="2">
                  <c:v>58.5</c:v>
                </c:pt>
                <c:pt idx="3">
                  <c:v>53.4</c:v>
                </c:pt>
                <c:pt idx="4">
                  <c:v>60.2</c:v>
                </c:pt>
                <c:pt idx="5">
                  <c:v>55.5</c:v>
                </c:pt>
                <c:pt idx="6">
                  <c:v>51.2</c:v>
                </c:pt>
                <c:pt idx="7">
                  <c:v>49.9</c:v>
                </c:pt>
                <c:pt idx="8">
                  <c:v>42.4</c:v>
                </c:pt>
                <c:pt idx="9">
                  <c:v>40</c:v>
                </c:pt>
                <c:pt idx="10">
                  <c:v>36.4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Women</c:v>
                </c:pt>
              </c:strCache>
            </c:strRef>
          </c:tx>
          <c:spPr>
            <a:solidFill>
              <a:srgbClr val="C0392B"/>
            </a:solidFill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10-14</c:v>
                  </c:pt>
                  <c:pt idx="1">
                    <c:v>15-19</c:v>
                  </c:pt>
                  <c:pt idx="2">
                    <c:v>20-24</c:v>
                  </c:pt>
                  <c:pt idx="3">
                    <c:v>25-29</c:v>
                  </c:pt>
                  <c:pt idx="4">
                    <c:v>30-34</c:v>
                  </c:pt>
                  <c:pt idx="5">
                    <c:v>35-39</c:v>
                  </c:pt>
                  <c:pt idx="6">
                    <c:v>40-44</c:v>
                  </c:pt>
                  <c:pt idx="7">
                    <c:v>45-49</c:v>
                  </c:pt>
                  <c:pt idx="8">
                    <c:v>50-54</c:v>
                  </c:pt>
                  <c:pt idx="9">
                    <c:v>55-59</c:v>
                  </c:pt>
                  <c:pt idx="10">
                    <c:v>60-64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35.5</c:v>
                </c:pt>
                <c:pt idx="1">
                  <c:v>28</c:v>
                </c:pt>
                <c:pt idx="2">
                  <c:v>23.4</c:v>
                </c:pt>
                <c:pt idx="3">
                  <c:v>24.6</c:v>
                </c:pt>
                <c:pt idx="4">
                  <c:v>17.7</c:v>
                </c:pt>
                <c:pt idx="5">
                  <c:v>19.5</c:v>
                </c:pt>
                <c:pt idx="6">
                  <c:v>13.2</c:v>
                </c:pt>
                <c:pt idx="7">
                  <c:v>9.1</c:v>
                </c:pt>
                <c:pt idx="8">
                  <c:v>7.2</c:v>
                </c:pt>
                <c:pt idx="9">
                  <c:v>9.6</c:v>
                </c:pt>
                <c:pt idx="10">
                  <c:v>6.8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24A5F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324A5F"/>
                    </a:solidFill>
                    <a:latin typeface="Calibri"/>
                  </a:rPr>
                  <a:t>Age band (years)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24A5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5DCE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324A5F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324A5F"/>
                    </a:solidFill>
                    <a:latin typeface="Calibri"/>
                  </a:rPr>
                  <a:t>Literate (weighted)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24A5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324A5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your variant: 98 = 12 x 8 + 2, so variant 2, Sindh rural. Two questions: what do households spend per student, and how does literacy change with age for women and 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R default, geom_point only. Right: my redesign. Three changes: conditional means (overplotting), position on a common scale with direct labels (perceptual ranking, data-ink), and a title that states the finding. The default shows individual observations that the redesign hides.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finding: the gender gap in literacy is large at every age and widest at 30-34 (60.2% vs 17.7%, a gap of 42.5 points). Women's literacy falls from 35.5% at 10-14 to 6.8% at 60-64. Limitation: one cross-section, so we cannot separate age effects from cohort effects.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Weighted median Rs 4,500, unweighted Rs 4,295; p10 Rs 1,000 and p90 Rs 15,500, ratio 15.50. One student (Rs 6) is outside the Rs 100 to Rs 1,000,000 range and is excluded from the histogram.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82296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Schooling in rural Sindh: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can read, and what families pay</a:t>
            </a:r>
            <a:endParaRPr lang="en-US" sz="3400" dirty="0"/>
          </a:p>
        </p:txBody>
      </p:sp>
      <p:sp>
        <p:nvSpPr>
          <p:cNvPr id="3" name="Course"/>
          <p:cNvSpPr txBox="1"/>
          <p:nvPr/>
        </p:nvSpPr>
        <p:spPr>
          <a:xfrm>
            <a:off x="548640" y="27432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ECO346 · Assignment 1 · Data Visualization Techniques for Economists</a:t>
            </a:r>
            <a:endParaRPr lang="en-US" sz="1400" dirty="0"/>
          </a:p>
        </p:txBody>
      </p:sp>
      <p:sp>
        <p:nvSpPr>
          <p:cNvPr id="4" name="Author and variant"/>
          <p:cNvSpPr txBox="1"/>
          <p:nvPr/>
        </p:nvSpPr>
        <p:spPr>
          <a:xfrm>
            <a:off x="548640" y="32461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Zunaira Zahid · FA24-BED-098 · Section B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2: Sindh, rural · PSLM 2019–20, weighted by hhweight</a:t>
            </a:r>
            <a:endParaRPr lang="en-US" sz="1600" dirty="0"/>
          </a:p>
        </p:txBody>
      </p:sp>
      <p:sp>
        <p:nvSpPr>
          <p:cNvPr id="5" name="Circle 1,440"/>
          <p:cNvSpPr/>
          <p:nvPr/>
        </p:nvSpPr>
        <p:spPr>
          <a:xfrm>
            <a:off x="6400800" y="914400"/>
            <a:ext cx="1737360" cy="1737360"/>
          </a:xfrm>
          <a:prstGeom prst="ellipse">
            <a:avLst/>
          </a:prstGeom>
          <a:solidFill>
            <a:srgbClr val="24385A"/>
          </a:solidFill>
          <a:ln w="25400">
            <a:solidFill>
              <a:srgbClr val="D9A441"/>
            </a:solidFill>
            <a:prstDash val="solid"/>
          </a:ln>
        </p:spPr>
      </p:sp>
      <p:sp>
        <p:nvSpPr>
          <p:cNvPr id="6" name="Circle number 1,440"/>
          <p:cNvSpPr txBox="1"/>
          <p:nvPr/>
        </p:nvSpPr>
        <p:spPr>
          <a:xfrm>
            <a:off x="640080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1,440</a:t>
            </a:r>
            <a:endParaRPr lang="en-US" sz="2800" dirty="0"/>
          </a:p>
        </p:txBody>
      </p:sp>
      <p:sp>
        <p:nvSpPr>
          <p:cNvPr id="7" name="Circle label 1,440"/>
          <p:cNvSpPr txBox="1"/>
          <p:nvPr/>
        </p:nvSpPr>
        <p:spPr>
          <a:xfrm>
            <a:off x="640080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with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spending</a:t>
            </a:r>
            <a:endParaRPr lang="en-US" sz="1100" dirty="0"/>
          </a:p>
        </p:txBody>
      </p:sp>
      <p:sp>
        <p:nvSpPr>
          <p:cNvPr id="8" name="Circle 7,171"/>
          <p:cNvSpPr/>
          <p:nvPr/>
        </p:nvSpPr>
        <p:spPr>
          <a:xfrm>
            <a:off x="6400800" y="2834640"/>
            <a:ext cx="1737360" cy="1737360"/>
          </a:xfrm>
          <a:prstGeom prst="ellipse">
            <a:avLst/>
          </a:prstGeom>
          <a:solidFill>
            <a:srgbClr val="24385A"/>
          </a:solidFill>
          <a:ln w="25400">
            <a:solidFill>
              <a:srgbClr val="5FA8D3"/>
            </a:solidFill>
            <a:prstDash val="solid"/>
          </a:ln>
        </p:spPr>
      </p:sp>
      <p:sp>
        <p:nvSpPr>
          <p:cNvPr id="9" name="Circle number 7,171"/>
          <p:cNvSpPr txBox="1"/>
          <p:nvPr/>
        </p:nvSpPr>
        <p:spPr>
          <a:xfrm>
            <a:off x="6400800" y="32461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FA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7,171</a:t>
            </a:r>
            <a:endParaRPr lang="en-US" sz="2800" dirty="0"/>
          </a:p>
        </p:txBody>
      </p:sp>
      <p:sp>
        <p:nvSpPr>
          <p:cNvPr id="10" name="Circle label 7,171"/>
          <p:cNvSpPr txBox="1"/>
          <p:nvPr/>
        </p:nvSpPr>
        <p:spPr>
          <a:xfrm>
            <a:off x="6400800" y="3794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persons aged 10–64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literacy observed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Makeover: from a cloud of dots to a finding</a:t>
            </a:r>
            <a:endParaRPr lang="en-US" sz="2800" dirty="0"/>
          </a:p>
        </p:txBody>
      </p:sp>
      <p:sp>
        <p:nvSpPr>
          <p:cNvPr id="3" name="Default label"/>
          <p:cNvSpPr txBox="1"/>
          <p:nvPr/>
        </p:nvSpPr>
        <p:spPr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R's defaults, untouched</a:t>
            </a:r>
            <a:endParaRPr lang="en-US" sz="1400" dirty="0"/>
          </a:p>
        </p:txBody>
      </p:sp>
      <p:sp>
        <p:nvSpPr>
          <p:cNvPr id="4" name="Redesign label"/>
          <p:cNvSpPr txBox="1"/>
          <p:nvPr/>
        </p:nvSpPr>
        <p:spPr>
          <a:xfrm>
            <a:off x="4754880" y="1188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Redesign: weighted rates by age band</a:t>
            </a:r>
            <a:endParaRPr lang="en-US" sz="1400" dirty="0"/>
          </a:p>
        </p:txBody>
      </p:sp>
      <p:pic>
        <p:nvPicPr>
          <p:cNvPr id="5" name="Default figure" descr="R default scatterplot of literate (0/1) against 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" y="1554480"/>
            <a:ext cx="3346704" cy="2148840"/>
          </a:xfrm>
          <a:prstGeom prst="rect">
            <a:avLst/>
          </a:prstGeom>
        </p:spPr>
      </p:pic>
      <p:pic>
        <p:nvPicPr>
          <p:cNvPr id="6" name="Redesign figure" descr="Weighted literacy rate by age band for men and women, rural Sindh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0620" y="1554480"/>
            <a:ext cx="3520440" cy="2148840"/>
          </a:xfrm>
          <a:prstGeom prst="rect">
            <a:avLst/>
          </a:prstGeom>
        </p:spPr>
      </p:pic>
      <p:sp>
        <p:nvSpPr>
          <p:cNvPr id="7" name="Makeover points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means replace 7,171 overlapping 0/1 dots, so the trend is visible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on a common scale, direct end labels and no legend: less data-ink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Hides: individual observations and the sample size behind each point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ages 30–34, 60% of rural Sindh men but only 18% of women can read</a:t>
            </a:r>
            <a:endParaRPr lang="en-US" sz="2800" dirty="0"/>
          </a:p>
        </p:txBody>
      </p:sp>
      <p:graphicFrame>
        <p:nvGraphicFramePr>
          <p:cNvPr id="3" name="Literacy by age chart" descr=""/>
          <p:cNvGraphicFramePr/>
          <p:nvPr/>
        </p:nvGraphicFramePr>
        <p:xfrm>
          <a:off x="457200" y="1280160"/>
          <a:ext cx="53949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42.5 pts"/>
          <p:cNvSpPr txBox="1"/>
          <p:nvPr/>
        </p:nvSpPr>
        <p:spPr>
          <a:xfrm>
            <a:off x="6217920" y="13258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42.5 pts</a:t>
            </a:r>
            <a:endParaRPr lang="en-US" sz="4000" dirty="0"/>
          </a:p>
        </p:txBody>
      </p:sp>
      <p:sp>
        <p:nvSpPr>
          <p:cNvPr id="5" name="Stat label 42.5 pts"/>
          <p:cNvSpPr txBox="1"/>
          <p:nvPr/>
        </p:nvSpPr>
        <p:spPr>
          <a:xfrm>
            <a:off x="6217920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gap between men and women (ages 30–34)</a:t>
            </a:r>
            <a:endParaRPr lang="en-US" sz="1400" dirty="0"/>
          </a:p>
        </p:txBody>
      </p:sp>
      <p:sp>
        <p:nvSpPr>
          <p:cNvPr id="6" name="Stat 28.0%"/>
          <p:cNvSpPr txBox="1"/>
          <p:nvPr/>
        </p:nvSpPr>
        <p:spPr>
          <a:xfrm>
            <a:off x="6217920" y="2880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28.0%</a:t>
            </a:r>
            <a:endParaRPr lang="en-US" sz="4000" dirty="0"/>
          </a:p>
        </p:txBody>
      </p:sp>
      <p:sp>
        <p:nvSpPr>
          <p:cNvPr id="7" name="Stat label 28.0%"/>
          <p:cNvSpPr txBox="1"/>
          <p:nvPr/>
        </p:nvSpPr>
        <p:spPr>
          <a:xfrm>
            <a:off x="6217920" y="359359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women aged 15–19 can read (men: 59.5%)</a:t>
            </a:r>
            <a:endParaRPr lang="en-US" sz="1400" dirty="0"/>
          </a:p>
        </p:txBody>
      </p:sp>
      <p:sp>
        <p:nvSpPr>
          <p:cNvPr id="8" name="Source"/>
          <p:cNvSpPr txBox="1"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PSLM 2019–20, rural Sindh, weighted by hhweight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typical student costs Rs 4,500 a year; one in ten costs Rs 15,500 or more</a:t>
            </a:r>
            <a:endParaRPr lang="en-US" sz="2800" dirty="0"/>
          </a:p>
        </p:txBody>
      </p:sp>
      <p:pic>
        <p:nvPicPr>
          <p:cNvPr id="3" name="Distribution figure" descr="Weighted histogram of annual education spending per student, log sca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1417320"/>
            <a:ext cx="5120640" cy="3127248"/>
          </a:xfrm>
          <a:prstGeom prst="rect">
            <a:avLst/>
          </a:prstGeom>
        </p:spPr>
      </p:pic>
      <p:sp>
        <p:nvSpPr>
          <p:cNvPr id="4" name="Stat Rs 4,500"/>
          <p:cNvSpPr txBox="1"/>
          <p:nvPr/>
        </p:nvSpPr>
        <p:spPr>
          <a:xfrm>
            <a:off x="5943600" y="1325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4,500</a:t>
            </a:r>
            <a:endParaRPr lang="en-US" sz="4000" dirty="0"/>
          </a:p>
        </p:txBody>
      </p:sp>
      <p:sp>
        <p:nvSpPr>
          <p:cNvPr id="5" name="Stat label Rs 4,500"/>
          <p:cNvSpPr txBox="1"/>
          <p:nvPr/>
        </p:nvSpPr>
        <p:spPr>
          <a:xfrm>
            <a:off x="5943600" y="2039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median (unweighted: Rs 4,295)</a:t>
            </a:r>
            <a:endParaRPr lang="en-US" sz="1400" dirty="0"/>
          </a:p>
        </p:txBody>
      </p:sp>
      <p:sp>
        <p:nvSpPr>
          <p:cNvPr id="6" name="Stat 15.5×"/>
          <p:cNvSpPr txBox="1"/>
          <p:nvPr/>
        </p:nvSpPr>
        <p:spPr>
          <a:xfrm>
            <a:off x="5943600" y="26974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15.5×</a:t>
            </a:r>
            <a:endParaRPr lang="en-US" sz="4000" dirty="0"/>
          </a:p>
        </p:txBody>
      </p:sp>
      <p:sp>
        <p:nvSpPr>
          <p:cNvPr id="7" name="Stat label 15.5×"/>
          <p:cNvSpPr txBox="1"/>
          <p:nvPr/>
        </p:nvSpPr>
        <p:spPr>
          <a:xfrm>
            <a:off x="5943600" y="34107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90th percentile (Rs 15,500) over 10th (Rs 1,000)</a:t>
            </a:r>
            <a:endParaRPr lang="en-US" sz="1400" dirty="0"/>
          </a:p>
        </p:txBody>
      </p:sp>
      <p:sp>
        <p:nvSpPr>
          <p:cNvPr id="8" name="Takeaway"/>
          <p:cNvSpPr txBox="1"/>
          <p:nvPr/>
        </p:nvSpPr>
        <p:spPr>
          <a:xfrm>
            <a:off x="5943600" y="4160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Right-skewed: weights lift the median only slightly.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C8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ral Sindh">
  <a:themeElements>
    <a:clrScheme name="Rural Sindh">
      <a:dk1>
        <a:srgbClr val="1B2A41"/>
      </a:dk1>
      <a:lt1>
        <a:srgbClr val="FFFFFF"/>
      </a:lt1>
      <a:dk2>
        <a:srgbClr val="324A5F"/>
      </a:dk2>
      <a:lt2>
        <a:srgbClr val="EEF2F6"/>
      </a:lt2>
      <a:accent1>
        <a:srgbClr val="1F5A99"/>
      </a:accent1>
      <a:accent2>
        <a:srgbClr val="C0392B"/>
      </a:accent2>
      <a:accent3>
        <a:srgbClr val="6B7C8F"/>
      </a:accent3>
      <a:accent4>
        <a:srgbClr val="D9A441"/>
      </a:accent4>
      <a:accent5>
        <a:srgbClr val="2E7D6B"/>
      </a:accent5>
      <a:accent6>
        <a:srgbClr val="8E5B9B"/>
      </a:accent6>
      <a:hlink>
        <a:srgbClr val="1F5A99"/>
      </a:hlink>
      <a:folHlink>
        <a:srgbClr val="6B7C8F"/>
      </a:folHlink>
    </a:clrScheme>
    <a:fontScheme name="Rural Sind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FA24-BED-098</dc:title>
  <dc:subject>PptxGenJS Presentation</dc:subject>
  <dc:creator>Zunaira Zahid</dc:creator>
  <cp:lastModifiedBy>Zunaira Zahid</cp:lastModifiedBy>
  <cp:revision>1</cp:revision>
  <dcterms:created xsi:type="dcterms:W3CDTF">2026-10-26T08:50:45Z</dcterms:created>
  <dcterms:modified xsi:type="dcterms:W3CDTF">2026-10-26T08:50:45Z</dcterms:modified>
</cp:coreProperties>
</file>